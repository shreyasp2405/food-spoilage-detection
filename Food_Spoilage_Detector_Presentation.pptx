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AI-Driven Environmental Monitoring and Shelf-Life 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Semester Project Defense</a:t>
            </a:r>
          </a:p>
          <a:p>
            <a:r>
              <a:t>Food Spoilage Detector</a:t>
            </a:r>
          </a:p>
          <a:p/>
          <a:p>
            <a:r>
              <a:t>[Add Team Members / IDs]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Mid-Sem Recap &amp; Final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The Problem: Post-harvest loss due to poor storage conditions.</a:t>
            </a:r>
          </a:p>
          <a:p>
            <a:pPr>
              <a:defRPr sz="2000"/>
            </a:pPr>
            <a:r>
              <a:t>Our Objective: Move beyond simple sensor readings to predictive AI.</a:t>
            </a:r>
          </a:p>
          <a:p>
            <a:pPr>
              <a:defRPr sz="2000"/>
            </a:pPr>
            <a:r>
              <a:t>What We Built (End-Sem Focus):</a:t>
            </a:r>
          </a:p>
          <a:p>
            <a:pPr lvl="1">
              <a:defRPr sz="2000"/>
            </a:pPr>
            <a:r>
              <a:t>  • Physics-grounded synthetic data generator.</a:t>
            </a:r>
          </a:p>
          <a:p>
            <a:pPr lvl="1">
              <a:defRPr sz="2000"/>
            </a:pPr>
            <a:r>
              <a:t>  • Dual-model Machine Learning Engine (Random Forest + LSTM).</a:t>
            </a:r>
          </a:p>
          <a:p>
            <a:pPr lvl="1">
              <a:defRPr sz="2000"/>
            </a:pPr>
            <a:r>
              <a:t>  • Two-stage environmental rules engine.</a:t>
            </a:r>
          </a:p>
          <a:p>
            <a:pPr lvl="1">
              <a:defRPr sz="2000"/>
            </a:pPr>
            <a:r>
              <a:t>  • Premium SaaS-style monitoring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Data Ingestion:</a:t>
            </a:r>
          </a:p>
          <a:p>
            <a:pPr lvl="1">
              <a:defRPr sz="2000"/>
            </a:pPr>
            <a:r>
              <a:t>  • IoT Sensors capture Temp, RH, CO2, Methane, and Ethylene.</a:t>
            </a:r>
          </a:p>
          <a:p>
            <a:pPr>
              <a:defRPr sz="2000"/>
            </a:pPr>
            <a:r>
              <a:t>Backend:</a:t>
            </a:r>
          </a:p>
          <a:p>
            <a:pPr lvl="1">
              <a:defRPr sz="2000"/>
            </a:pPr>
            <a:r>
              <a:t>  • High-performance Python FastAPI server handling data streams and CSV batch uploads.</a:t>
            </a:r>
          </a:p>
          <a:p>
            <a:pPr>
              <a:defRPr sz="2000"/>
            </a:pPr>
            <a:r>
              <a:t>Intelligence:</a:t>
            </a:r>
          </a:p>
          <a:p>
            <a:pPr lvl="1">
              <a:defRPr sz="2000"/>
            </a:pPr>
            <a:r>
              <a:t>  • Scikit-Learn (Random Forest) and TensorFlow (LSTM) engines predicting Remaining Shelf Life (RSL).</a:t>
            </a:r>
          </a:p>
          <a:p>
            <a:pPr>
              <a:defRPr sz="2000"/>
            </a:pPr>
            <a:r>
              <a:t>User Interface:</a:t>
            </a:r>
          </a:p>
          <a:p>
            <a:pPr lvl="1">
              <a:defRPr sz="2000"/>
            </a:pPr>
            <a:r>
              <a:t>  • React + Tailwind dashboard for real-time visualization.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Generation — The Physics Simulator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The Challenge:</a:t>
            </a:r>
          </a:p>
          <a:p>
            <a:pPr lvl="1">
              <a:defRPr sz="2000"/>
            </a:pPr>
            <a:r>
              <a:t>  • Collecting 100,000+ real-world sensor rows is impossible in one semester.</a:t>
            </a:r>
          </a:p>
          <a:p>
            <a:pPr>
              <a:defRPr sz="2000"/>
            </a:pPr>
            <a:r>
              <a:t>The Solution:</a:t>
            </a:r>
          </a:p>
          <a:p>
            <a:pPr lvl="1">
              <a:defRPr sz="2000"/>
            </a:pPr>
            <a:r>
              <a:t>  • We built a strict, physics-grounded simulator to generate training data.</a:t>
            </a:r>
          </a:p>
          <a:p>
            <a:pPr>
              <a:defRPr sz="2000"/>
            </a:pPr>
            <a:r>
              <a:t>Core Mathematics:</a:t>
            </a:r>
          </a:p>
          <a:p>
            <a:pPr lvl="1">
              <a:defRPr sz="2000"/>
            </a:pPr>
            <a:r>
              <a:t>  • Arrhenius Factor: Models exponential biological aging based on temperature.</a:t>
            </a:r>
          </a:p>
          <a:p>
            <a:pPr lvl="1">
              <a:defRPr sz="2000"/>
            </a:pPr>
            <a:r>
              <a:t>  • Climacteric Multiplier: Models the sudden spike in respiration and Ethylene during ripening.</a:t>
            </a:r>
          </a:p>
          <a:p>
            <a:pPr>
              <a:defRPr sz="2000"/>
            </a:pPr>
            <a:r>
              <a:t>Result:</a:t>
            </a:r>
          </a:p>
          <a:p>
            <a:pPr lvl="1">
              <a:defRPr sz="2000"/>
            </a:pPr>
            <a:r>
              <a:t>  • Generated over 105,000 rows of highly realistic, scientifically accurate training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We evaluated two distinct models to predict Remaining Shelf Life (RSL):</a:t>
            </a:r>
          </a:p>
          <a:p>
            <a:pPr>
              <a:defRPr sz="2000"/>
            </a:pPr>
            <a:r>
              <a:t>Model 1: Random Forest (Baseline)</a:t>
            </a:r>
          </a:p>
          <a:p>
            <a:pPr lvl="1">
              <a:defRPr sz="2000"/>
            </a:pPr>
            <a:r>
              <a:t>  • Treats every sensor reading independently.</a:t>
            </a:r>
          </a:p>
          <a:p>
            <a:pPr lvl="1">
              <a:defRPr sz="2000"/>
            </a:pPr>
            <a:r>
              <a:t>  • Fast and highly interpretable.</a:t>
            </a:r>
          </a:p>
          <a:p>
            <a:pPr>
              <a:defRPr sz="2000"/>
            </a:pPr>
            <a:r>
              <a:t>Model 2: LSTM (Long Short-Term Memory Network)</a:t>
            </a:r>
          </a:p>
          <a:p>
            <a:pPr lvl="1">
              <a:defRPr sz="2000"/>
            </a:pPr>
            <a:r>
              <a:t>  • A deep learning model trained on a 48-step sliding window.</a:t>
            </a:r>
          </a:p>
          <a:p>
            <a:pPr>
              <a:defRPr sz="2000"/>
            </a:pPr>
            <a:r>
              <a:t>Why LSTM?</a:t>
            </a:r>
          </a:p>
          <a:p>
            <a:pPr lvl="1">
              <a:defRPr sz="2000"/>
            </a:pPr>
            <a:r>
              <a:t>  • Food spoilage is a time-series problem. How the gas accumulated over the last 24 hours is just as important as the current reading.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Random Forest Performance:</a:t>
            </a:r>
          </a:p>
          <a:p>
            <a:pPr lvl="1">
              <a:defRPr sz="2000"/>
            </a:pPr>
            <a:r>
              <a:t>  • RMSE = 0.077 days.</a:t>
            </a:r>
          </a:p>
          <a:p>
            <a:pPr>
              <a:defRPr sz="2000"/>
            </a:pPr>
            <a:r>
              <a:t>LSTM Performance:</a:t>
            </a:r>
          </a:p>
          <a:p>
            <a:pPr lvl="1">
              <a:defRPr sz="2000"/>
            </a:pPr>
            <a:r>
              <a:t>  • RMSE = 0.043 days (R-squared = 0.9997).</a:t>
            </a:r>
          </a:p>
          <a:p>
            <a:pPr>
              <a:defRPr sz="2000"/>
            </a:pPr>
            <a:r>
              <a:t>Key Finding:</a:t>
            </a:r>
          </a:p>
          <a:p>
            <a:pPr lvl="1">
              <a:defRPr sz="2000"/>
            </a:pPr>
            <a:r>
              <a:t>  • The LSTM almost halved the error rate.</a:t>
            </a:r>
          </a:p>
          <a:p>
            <a:pPr>
              <a:defRPr sz="2000"/>
            </a:pPr>
            <a:r>
              <a:t>Conclusion:</a:t>
            </a:r>
          </a:p>
          <a:p>
            <a:pPr lvl="1">
              <a:defRPr sz="2000"/>
            </a:pPr>
            <a:r>
              <a:t>  • By utilizing the time-history representation (memory of past sensor readings), the LSTM suppresses large errors and provides a highly stable, production-ready prediction.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Alert Engine (Traffic Light Logic)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Two-Stage Decision Logic:</a:t>
            </a:r>
          </a:p>
          <a:p>
            <a:pPr lvl="1">
              <a:defRPr sz="2000"/>
            </a:pPr>
            <a:r>
              <a:t>  • The system actively monitors the environment for early warnings, not just total spoilage.</a:t>
            </a:r>
          </a:p>
          <a:p>
            <a:pPr>
              <a:defRPr sz="2000"/>
            </a:pPr>
            <a:r>
              <a:t>Stage 1: Sensor Thresholds:</a:t>
            </a:r>
          </a:p>
          <a:p>
            <a:pPr lvl="1">
              <a:defRPr sz="2000"/>
            </a:pPr>
            <a:r>
              <a:t>  • Critical: Methane &gt; 0.5 ppm (Anaerobic rot started).</a:t>
            </a:r>
          </a:p>
          <a:p>
            <a:pPr lvl="1">
              <a:defRPr sz="2000"/>
            </a:pPr>
            <a:r>
              <a:t>  • Warning: Temp &gt; 30°C or CO2 &gt; 50,000 ppm (Dangerously hot/suffocating).</a:t>
            </a:r>
          </a:p>
          <a:p>
            <a:pPr>
              <a:defRPr sz="2000"/>
            </a:pPr>
            <a:r>
              <a:t>Stage 2: Aggregation:</a:t>
            </a:r>
          </a:p>
          <a:p>
            <a:pPr lvl="1">
              <a:defRPr sz="2000"/>
            </a:pPr>
            <a:r>
              <a:t>  • Factors are combined with the ML prediction to assign a final actionable status (Green/Raw, Yellow/Ripe, Red/Rotten).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Operational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We designed a premium, startup-level user interface.</a:t>
            </a:r>
          </a:p>
          <a:p>
            <a:pPr>
              <a:defRPr sz="2000"/>
            </a:pPr>
            <a:r>
              <a:t>Tech Stack:</a:t>
            </a:r>
          </a:p>
          <a:p>
            <a:pPr lvl="1">
              <a:defRPr sz="2000"/>
            </a:pPr>
            <a:r>
              <a:t>  • React, TypeScript, Tailwind CSS (Glassmorphism design), Recharts, and Framer Motion.</a:t>
            </a:r>
          </a:p>
          <a:p>
            <a:pPr>
              <a:defRPr sz="2000"/>
            </a:pPr>
            <a:r>
              <a:t>Features:</a:t>
            </a:r>
          </a:p>
          <a:p>
            <a:pPr lvl="1">
              <a:defRPr sz="2000"/>
            </a:pPr>
            <a:r>
              <a:t>  • Real-time glowing sensor cards (Temp, RH, Gases).</a:t>
            </a:r>
          </a:p>
          <a:p>
            <a:pPr lvl="1">
              <a:defRPr sz="2000"/>
            </a:pPr>
            <a:r>
              <a:t>  • Dynamic Area Charts mapping the distribution trends.</a:t>
            </a:r>
          </a:p>
          <a:p>
            <a:pPr lvl="1">
              <a:defRPr sz="2000"/>
            </a:pPr>
            <a:r>
              <a:t>  • A giant countdown timer for Remaining Shelf Life (RSL).</a:t>
            </a:r>
          </a:p>
          <a:p>
            <a:pPr>
              <a:defRPr sz="2000"/>
            </a:pPr>
            <a:r>
              <a:t>[Insert Screenshot of Live Dashboard Here]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Batch Processing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Enterprise Capability:</a:t>
            </a:r>
          </a:p>
          <a:p>
            <a:pPr lvl="1">
              <a:defRPr sz="2000"/>
            </a:pPr>
            <a:r>
              <a:t>  • Built a batch-processing engine for warehouse managers.</a:t>
            </a:r>
          </a:p>
          <a:p>
            <a:pPr>
              <a:defRPr sz="2000"/>
            </a:pPr>
            <a:r>
              <a:t>Functionality:</a:t>
            </a:r>
          </a:p>
          <a:p>
            <a:pPr lvl="1">
              <a:defRPr sz="2000"/>
            </a:pPr>
            <a:r>
              <a:t>  • Users can drag-and-drop massive CSV files of raw sensor data.</a:t>
            </a:r>
          </a:p>
          <a:p>
            <a:pPr>
              <a:defRPr sz="2000"/>
            </a:pPr>
            <a:r>
              <a:t>Analysis:</a:t>
            </a:r>
          </a:p>
          <a:p>
            <a:pPr lvl="1">
              <a:defRPr sz="2000"/>
            </a:pPr>
            <a:r>
              <a:t>  • The LSTM engine processes thousands of rows concurrently.</a:t>
            </a:r>
          </a:p>
          <a:p>
            <a:pPr lvl="1">
              <a:defRPr sz="2000"/>
            </a:pPr>
            <a:r>
              <a:t>  • Provides a breakdown of dataset status percentages (Raw vs Rotten).</a:t>
            </a:r>
          </a:p>
          <a:p>
            <a:pPr lvl="1">
              <a:defRPr sz="2000"/>
            </a:pPr>
            <a:r>
              <a:t>  • Per-row inspections identifying exact confidence and reasons for spoilage.</a:t>
            </a:r>
          </a:p>
          <a:p>
            <a:pPr>
              <a:defRPr sz="2000"/>
            </a:pPr>
            <a:r>
              <a:t>[Insert Screenshot of CSV Upload Panel Here]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What We Achieved:</a:t>
            </a:r>
          </a:p>
          <a:p>
            <a:pPr lvl="1">
              <a:defRPr sz="2000"/>
            </a:pPr>
            <a:r>
              <a:t>  • Successfully mapped raw chemical gas readings to a highly accurate biological timeline using Deep Learning.</a:t>
            </a:r>
          </a:p>
          <a:p>
            <a:pPr>
              <a:defRPr sz="2000"/>
            </a:pPr>
            <a:r>
              <a:t>Future Scope:</a:t>
            </a:r>
          </a:p>
          <a:p>
            <a:pPr lvl="1">
              <a:defRPr sz="2000"/>
            </a:pPr>
            <a:r>
              <a:t>  • Integrate physical ESP32/Raspberry Pi hardware directly into the WebSocket stream.</a:t>
            </a:r>
          </a:p>
          <a:p>
            <a:pPr lvl="1">
              <a:defRPr sz="2000"/>
            </a:pPr>
            <a:r>
              <a:t>  • Train the models on different climacteric fruits (e.g., Avocados, Mangoes).</a:t>
            </a:r>
          </a:p>
          <a:p>
            <a:pPr>
              <a:defRPr sz="2000"/>
            </a:pPr>
            <a:r>
              <a:t>Questions?</a:t>
            </a:r>
          </a:p>
          <a:p>
            <a:pPr lvl="1">
              <a:defRPr sz="2000"/>
            </a:pPr>
            <a:r>
              <a:t>  •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